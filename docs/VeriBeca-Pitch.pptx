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8" d="100"/>
          <a:sy n="108" d="100"/>
        </p:scale>
        <p:origin x="678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3D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2057400"/>
            <a:ext cx="10332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6400" b="1">
                <a:solidFill>
                  <a:srgbClr val="FFFFFF"/>
                </a:solidFill>
                <a:latin typeface="Calibri"/>
              </a:rPr>
              <a:t>VeriBeca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42900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49E8F"/>
                </a:solidFill>
                <a:latin typeface="Calibri"/>
              </a:rPr>
              <a:t>Asignación transparente de becas y ayudas sociales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41148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C9D6DE"/>
                </a:solidFill>
                <a:latin typeface="Calibri"/>
              </a:rPr>
              <a:t>DSL tipado  ·  Inteligencia Artificial  ·  Blockchain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557784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>
                <a:solidFill>
                  <a:srgbClr val="C9D6DE"/>
                </a:solidFill>
                <a:latin typeface="Calibri"/>
              </a:rPr>
              <a:t>Teoría de Computación 2 · Universidad Champagnat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C9D6DE"/>
                </a:solidFill>
                <a:latin typeface="Calibri"/>
              </a:rPr>
              <a:t>Integrantes: Santiago Vicente · Matías Porcari · Bautista Navarro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146304" cy="566928"/>
          </a:xfrm>
          <a:prstGeom prst="rect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>
                <a:solidFill>
                  <a:srgbClr val="0F3D5C"/>
                </a:solidFill>
                <a:latin typeface="Calibri"/>
              </a:rPr>
              <a:t>El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9844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6B6B6B"/>
                </a:solidFill>
                <a:latin typeface="Calibri"/>
              </a:rPr>
              <a:t>La asignación de becas y ayudas sociales se percibe como opaca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000" b="0">
                <a:solidFill>
                  <a:srgbClr val="C9D6DE"/>
                </a:solidFill>
                <a:latin typeface="Calibri"/>
              </a:rPr>
              <a:t>VeriBeca · Asignación transparente de becas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1000"/>
              </a:spcAft>
            </a:pPr>
            <a:r>
              <a:rPr sz="1100" b="1">
                <a:solidFill>
                  <a:srgbClr val="6B6B6B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658368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149E8F"/>
                </a:solidFill>
                <a:latin typeface="Calibri"/>
              </a:rPr>
              <a:t>●  </a:t>
            </a:r>
            <a:r>
              <a:rPr sz="1800" b="0">
                <a:solidFill>
                  <a:srgbClr val="2E2E2E"/>
                </a:solidFill>
                <a:latin typeface="Calibri"/>
              </a:rPr>
              <a:t>Criterios de elegibilidad ambiguos y poco claros.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149E8F"/>
                </a:solidFill>
                <a:latin typeface="Calibri"/>
              </a:rPr>
              <a:t>●  </a:t>
            </a:r>
            <a:r>
              <a:rPr sz="1800" b="0">
                <a:solidFill>
                  <a:srgbClr val="2E2E2E"/>
                </a:solidFill>
                <a:latin typeface="Calibri"/>
              </a:rPr>
              <a:t>Aplicación inconsistente entre distintos evaluadores.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149E8F"/>
                </a:solidFill>
                <a:latin typeface="Calibri"/>
              </a:rPr>
              <a:t>●  </a:t>
            </a:r>
            <a:r>
              <a:rPr sz="1800" b="0">
                <a:solidFill>
                  <a:srgbClr val="2E2E2E"/>
                </a:solidFill>
                <a:latin typeface="Calibri"/>
              </a:rPr>
              <a:t>Procesos manuales, lentos y propensos a error humano.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149E8F"/>
                </a:solidFill>
                <a:latin typeface="Calibri"/>
              </a:rPr>
              <a:t>●  </a:t>
            </a:r>
            <a:r>
              <a:rPr sz="1800" b="0">
                <a:solidFill>
                  <a:srgbClr val="2E2E2E"/>
                </a:solidFill>
                <a:latin typeface="Calibri"/>
              </a:rPr>
              <a:t>Quien queda afuera no puede auditar por qué.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149E8F"/>
                </a:solidFill>
                <a:latin typeface="Calibri"/>
              </a:rPr>
              <a:t>●  </a:t>
            </a:r>
            <a:r>
              <a:rPr sz="1800" b="0">
                <a:solidFill>
                  <a:srgbClr val="2E2E2E"/>
                </a:solidFill>
                <a:latin typeface="Calibri"/>
              </a:rPr>
              <a:t>No hay evidencia inalterable de cómo se decidió cada caso.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2103120"/>
            <a:ext cx="3566160" cy="3108960"/>
          </a:xfrm>
          <a:prstGeom prst="roundRect">
            <a:avLst/>
          </a:prstGeom>
          <a:solidFill>
            <a:srgbClr val="F3F6F9"/>
          </a:solidFill>
          <a:ln w="19050">
            <a:solidFill>
              <a:srgbClr val="14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38160" y="2468880"/>
            <a:ext cx="310896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1400"/>
              </a:spcAft>
            </a:pPr>
            <a:r>
              <a:rPr sz="1500" b="1">
                <a:solidFill>
                  <a:srgbClr val="0E6F64"/>
                </a:solidFill>
                <a:latin typeface="Calibri"/>
              </a:rPr>
              <a:t>La consecuencia</a:t>
            </a:r>
          </a:p>
          <a:p>
            <a:pPr algn="ctr">
              <a:spcAft>
                <a:spcPts val="1000"/>
              </a:spcAft>
            </a:pPr>
            <a:r>
              <a:rPr sz="1700" b="0">
                <a:solidFill>
                  <a:srgbClr val="2E2E2E"/>
                </a:solidFill>
                <a:latin typeface="Calibri"/>
              </a:rPr>
              <a:t>Desconfianza en las instituciones y sospechas de favoritismo o clientelismo.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146304" cy="566928"/>
          </a:xfrm>
          <a:prstGeom prst="rect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>
                <a:solidFill>
                  <a:srgbClr val="0F3D5C"/>
                </a:solidFill>
                <a:latin typeface="Calibri"/>
              </a:rPr>
              <a:t>La solución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9844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6B6B6B"/>
                </a:solidFill>
                <a:latin typeface="Calibri"/>
              </a:rPr>
              <a:t>La institución define sus reglas; el sistema las aplica, prioriza y audita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000" b="0">
                <a:solidFill>
                  <a:srgbClr val="C9D6DE"/>
                </a:solidFill>
                <a:latin typeface="Calibri"/>
              </a:rPr>
              <a:t>VeriBeca · Asignación transparente de becas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1000"/>
              </a:spcAft>
            </a:pPr>
            <a:r>
              <a:rPr sz="1100" b="1">
                <a:solidFill>
                  <a:srgbClr val="6B6B6B"/>
                </a:solidFill>
                <a:latin typeface="Calibri"/>
              </a:rPr>
              <a:t>3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1965960"/>
            <a:ext cx="566928" cy="566928"/>
          </a:xfrm>
          <a:prstGeom prst="ellipse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10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920240"/>
            <a:ext cx="9692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0F3D5C"/>
                </a:solidFill>
                <a:latin typeface="Calibri"/>
              </a:rPr>
              <a:t>Escribir la regla  —  </a:t>
            </a:r>
            <a:r>
              <a:rPr sz="1700" b="0">
                <a:solidFill>
                  <a:srgbClr val="2E2E2E"/>
                </a:solidFill>
                <a:latin typeface="Calibri"/>
              </a:rPr>
              <a:t>En un lenguaje simple y legible (DSL).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2807208"/>
            <a:ext cx="566928" cy="566928"/>
          </a:xfrm>
          <a:prstGeom prst="ellipse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10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761488"/>
            <a:ext cx="9692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0F3D5C"/>
                </a:solidFill>
                <a:latin typeface="Calibri"/>
              </a:rPr>
              <a:t>Validar  —  </a:t>
            </a:r>
            <a:r>
              <a:rPr sz="1700" b="0">
                <a:solidFill>
                  <a:srgbClr val="2E2E2E"/>
                </a:solidFill>
                <a:latin typeface="Calibri"/>
              </a:rPr>
              <a:t>El type-checker verifica que la regla esté bien formada.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648456"/>
            <a:ext cx="566928" cy="566928"/>
          </a:xfrm>
          <a:prstGeom prst="ellipse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10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602736"/>
            <a:ext cx="9692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0F3D5C"/>
                </a:solidFill>
                <a:latin typeface="Calibri"/>
              </a:rPr>
              <a:t>Aplicar a todos  —  </a:t>
            </a:r>
            <a:r>
              <a:rPr sz="1700" b="0">
                <a:solidFill>
                  <a:srgbClr val="2E2E2E"/>
                </a:solidFill>
                <a:latin typeface="Calibri"/>
              </a:rPr>
              <a:t>El intérprete evalúa a cada postulante por igual.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489704"/>
            <a:ext cx="566928" cy="566928"/>
          </a:xfrm>
          <a:prstGeom prst="ellipse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10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4443984"/>
            <a:ext cx="9692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0F3D5C"/>
                </a:solidFill>
                <a:latin typeface="Calibri"/>
              </a:rPr>
              <a:t>Priorizar con IA  —  </a:t>
            </a:r>
            <a:r>
              <a:rPr sz="1700" b="0">
                <a:solidFill>
                  <a:srgbClr val="2E2E2E"/>
                </a:solidFill>
                <a:latin typeface="Calibri"/>
              </a:rPr>
              <a:t>Ordena a los elegibles según vulnerabilidad.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30952"/>
            <a:ext cx="566928" cy="566928"/>
          </a:xfrm>
          <a:prstGeom prst="ellipse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10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5285232"/>
            <a:ext cx="9692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0F3D5C"/>
                </a:solidFill>
                <a:latin typeface="Calibri"/>
              </a:rPr>
              <a:t>Sellar en blockchain  —  </a:t>
            </a:r>
            <a:r>
              <a:rPr sz="1700" b="0">
                <a:solidFill>
                  <a:srgbClr val="2E2E2E"/>
                </a:solidFill>
                <a:latin typeface="Calibri"/>
              </a:rPr>
              <a:t>Cada decisión queda registrada e inalterable.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146304" cy="566928"/>
          </a:xfrm>
          <a:prstGeom prst="rect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>
                <a:solidFill>
                  <a:srgbClr val="0F3D5C"/>
                </a:solidFill>
                <a:latin typeface="Calibri"/>
              </a:rPr>
              <a:t>Cómo funciona (demo)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9844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6B6B6B"/>
                </a:solidFill>
                <a:latin typeface="Calibri"/>
              </a:rPr>
              <a:t>Del criterio a un certificado verificable, en segundos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000" b="0">
                <a:solidFill>
                  <a:srgbClr val="C9D6DE"/>
                </a:solidFill>
                <a:latin typeface="Calibri"/>
              </a:rPr>
              <a:t>VeriBeca · Asignación transparente de becas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1000"/>
              </a:spcAft>
            </a:pPr>
            <a:r>
              <a:rPr sz="1100" b="1">
                <a:solidFill>
                  <a:srgbClr val="6B6B6B"/>
                </a:solidFill>
                <a:latin typeface="Calibri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1920240"/>
            <a:ext cx="10424160" cy="914400"/>
          </a:xfrm>
          <a:prstGeom prst="roundRect">
            <a:avLst/>
          </a:prstGeom>
          <a:solidFill>
            <a:srgbClr val="0F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9FE8DE"/>
                </a:solidFill>
                <a:latin typeface="Calibri"/>
              </a:rPr>
              <a:t>SI ingreso_familiar &lt; 300000  Y  promedio &gt;= 7  ENTONCES elegible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54680"/>
            <a:ext cx="104241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149E8F"/>
                </a:solidFill>
                <a:latin typeface="Calibri"/>
              </a:rPr>
              <a:t>●  </a:t>
            </a:r>
            <a:r>
              <a:rPr sz="1800" b="0">
                <a:solidFill>
                  <a:srgbClr val="2E2E2E"/>
                </a:solidFill>
                <a:latin typeface="Calibri"/>
              </a:rPr>
              <a:t>Se carga el padrón de postulantes (CSV) y se evalúa con un clic.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149E8F"/>
                </a:solidFill>
                <a:latin typeface="Calibri"/>
              </a:rPr>
              <a:t>●  </a:t>
            </a:r>
            <a:r>
              <a:rPr sz="1800" b="0">
                <a:solidFill>
                  <a:srgbClr val="2E2E2E"/>
                </a:solidFill>
                <a:latin typeface="Calibri"/>
              </a:rPr>
              <a:t>Sobre 100 postulantes de prueba: 24 elegibles, priorizados en segundos.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149E8F"/>
                </a:solidFill>
                <a:latin typeface="Calibri"/>
              </a:rPr>
              <a:t>●  </a:t>
            </a:r>
            <a:r>
              <a:rPr sz="1800" b="0">
                <a:solidFill>
                  <a:srgbClr val="2E2E2E"/>
                </a:solidFill>
                <a:latin typeface="Calibri"/>
              </a:rPr>
              <a:t>Cada elegible recibe un certificado con un hash único de su decisión.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149E8F"/>
                </a:solidFill>
                <a:latin typeface="Calibri"/>
              </a:rPr>
              <a:t>●  </a:t>
            </a:r>
            <a:r>
              <a:rPr sz="1800" b="0">
                <a:solidFill>
                  <a:srgbClr val="2E2E2E"/>
                </a:solidFill>
                <a:latin typeface="Calibri"/>
              </a:rPr>
              <a:t>Ese hash queda registrado en la blockchain y es verificable por cualquiera en el explorer.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149E8F"/>
                </a:solidFill>
                <a:latin typeface="Calibri"/>
              </a:rPr>
              <a:t>●  </a:t>
            </a:r>
            <a:r>
              <a:rPr sz="1800" b="0">
                <a:solidFill>
                  <a:srgbClr val="2E2E2E"/>
                </a:solidFill>
                <a:latin typeface="Calibri"/>
              </a:rPr>
              <a:t>Si falla la red, el sistema sigue funcionando en modo de respaldo (la demo nunca se cae).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146304" cy="566928"/>
          </a:xfrm>
          <a:prstGeom prst="rect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>
                <a:solidFill>
                  <a:srgbClr val="0F3D5C"/>
                </a:solidFill>
                <a:latin typeface="Calibri"/>
              </a:rPr>
              <a:t>Arquitectura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9844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6B6B6B"/>
                </a:solidFill>
                <a:latin typeface="Calibri"/>
              </a:rPr>
              <a:t>Módulos desacoplados, cada uno con una responsabilidad clara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000" b="0">
                <a:solidFill>
                  <a:srgbClr val="C9D6DE"/>
                </a:solidFill>
                <a:latin typeface="Calibri"/>
              </a:rPr>
              <a:t>VeriBeca · Asignación transparente de becas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1000"/>
              </a:spcAft>
            </a:pPr>
            <a:r>
              <a:rPr sz="1100" b="1">
                <a:solidFill>
                  <a:srgbClr val="6B6B6B"/>
                </a:solidFill>
                <a:latin typeface="Calibri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83080"/>
            <a:ext cx="3383280" cy="685800"/>
          </a:xfrm>
          <a:prstGeom prst="roundRect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89120" y="1783080"/>
            <a:ext cx="33832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Interfaz (Streamlit)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852160" y="2514600"/>
            <a:ext cx="457200" cy="411480"/>
          </a:xfrm>
          <a:prstGeom prst="downArrow">
            <a:avLst/>
          </a:prstGeom>
          <a:solidFill>
            <a:srgbClr val="E2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389120" y="2971800"/>
            <a:ext cx="3383280" cy="685800"/>
          </a:xfrm>
          <a:prstGeom prst="roundRect">
            <a:avLst/>
          </a:prstGeom>
          <a:solidFill>
            <a:srgbClr val="165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89120" y="2971800"/>
            <a:ext cx="33832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Backend / API (FastAPI)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2331720" y="3703320"/>
            <a:ext cx="411480" cy="365760"/>
          </a:xfrm>
          <a:prstGeom prst="downArrow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97280" y="4160520"/>
            <a:ext cx="2926080" cy="1691640"/>
          </a:xfrm>
          <a:prstGeom prst="roundRect">
            <a:avLst/>
          </a:prstGeom>
          <a:solidFill>
            <a:srgbClr val="F3F6F9"/>
          </a:solidFill>
          <a:ln w="25400">
            <a:solidFill>
              <a:srgbClr val="14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280160" y="4343400"/>
            <a:ext cx="256032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1">
                <a:solidFill>
                  <a:srgbClr val="149E8F"/>
                </a:solidFill>
                <a:latin typeface="Calibri"/>
              </a:rPr>
              <a:t>Motor DSL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2E2E2E"/>
                </a:solidFill>
                <a:latin typeface="Calibri"/>
              </a:rPr>
              <a:t>lexer → parser →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2E2E2E"/>
                </a:solidFill>
                <a:latin typeface="Calibri"/>
              </a:rPr>
              <a:t>type-checker → intérprete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5870448" y="3703320"/>
            <a:ext cx="411480" cy="365760"/>
          </a:xfrm>
          <a:prstGeom prst="downArrow">
            <a:avLst/>
          </a:prstGeom>
          <a:solidFill>
            <a:srgbClr val="E2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636008" y="4160520"/>
            <a:ext cx="2926080" cy="1691640"/>
          </a:xfrm>
          <a:prstGeom prst="roundRect">
            <a:avLst/>
          </a:prstGeom>
          <a:solidFill>
            <a:srgbClr val="F3F6F9"/>
          </a:solidFill>
          <a:ln w="25400">
            <a:solidFill>
              <a:srgbClr val="E28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818888" y="4343400"/>
            <a:ext cx="256032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1">
                <a:solidFill>
                  <a:srgbClr val="E28A2B"/>
                </a:solidFill>
                <a:latin typeface="Calibri"/>
              </a:rPr>
              <a:t>IA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2E2E2E"/>
                </a:solidFill>
                <a:latin typeface="Calibri"/>
              </a:rPr>
              <a:t>scikit-learn: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2E2E2E"/>
                </a:solidFill>
                <a:latin typeface="Calibri"/>
              </a:rPr>
              <a:t>scoring de vulnerabilidad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9409176" y="3703320"/>
            <a:ext cx="411480" cy="365760"/>
          </a:xfrm>
          <a:prstGeom prst="downArrow">
            <a:avLst/>
          </a:prstGeom>
          <a:solidFill>
            <a:srgbClr val="0F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174736" y="4160520"/>
            <a:ext cx="2926080" cy="1691640"/>
          </a:xfrm>
          <a:prstGeom prst="roundRect">
            <a:avLst/>
          </a:prstGeom>
          <a:solidFill>
            <a:srgbClr val="F3F6F9"/>
          </a:solidFill>
          <a:ln w="25400">
            <a:solidFill>
              <a:srgbClr val="0F3D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57615" y="4343400"/>
            <a:ext cx="256032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1">
                <a:solidFill>
                  <a:srgbClr val="0F3D5C"/>
                </a:solidFill>
                <a:latin typeface="Calibri"/>
              </a:rPr>
              <a:t>Blockchain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2E2E2E"/>
                </a:solidFill>
                <a:latin typeface="Calibri"/>
              </a:rPr>
              <a:t>smart contract en testnet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2E2E2E"/>
                </a:solidFill>
                <a:latin typeface="Calibri"/>
              </a:rPr>
              <a:t>+ fallback local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146304" cy="566928"/>
          </a:xfrm>
          <a:prstGeom prst="rect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>
                <a:solidFill>
                  <a:srgbClr val="0F3D5C"/>
                </a:solidFill>
                <a:latin typeface="Calibri"/>
              </a:rPr>
              <a:t>Cómo cumple la consigna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9844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6B6B6B"/>
                </a:solidFill>
                <a:latin typeface="Calibri"/>
              </a:rPr>
              <a:t>Las 4 unidades de la materia + IA + Blockchain en un solo flujo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000" b="0">
                <a:solidFill>
                  <a:srgbClr val="C9D6DE"/>
                </a:solidFill>
                <a:latin typeface="Calibri"/>
              </a:rPr>
              <a:t>VeriBeca · Asignación transparente de becas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1000"/>
              </a:spcAft>
            </a:pPr>
            <a:r>
              <a:rPr sz="1100" b="1">
                <a:solidFill>
                  <a:srgbClr val="6B6B6B"/>
                </a:solidFill>
                <a:latin typeface="Calibri"/>
              </a:rPr>
              <a:t>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14400" y="1965960"/>
          <a:ext cx="1033272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92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7056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Tema de la materia</a:t>
                      </a:r>
                    </a:p>
                  </a:txBody>
                  <a:tcPr>
                    <a:solidFill>
                      <a:srgbClr val="0F3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Cómo se aplica en VeriBeca</a:t>
                      </a:r>
                    </a:p>
                  </a:txBody>
                  <a:tcPr>
                    <a:solidFill>
                      <a:srgbClr val="0F3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05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E2E2E"/>
                          </a:solidFill>
                          <a:latin typeface="Calibri"/>
                        </a:rPr>
                        <a:t>Lenguajes de programación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E2E2E"/>
                          </a:solidFill>
                          <a:latin typeface="Calibri"/>
                        </a:rPr>
                        <a:t>DSL propio de reglas de elegibilidad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05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E2E2E"/>
                          </a:solidFill>
                          <a:latin typeface="Calibri"/>
                        </a:rPr>
                        <a:t>Sistemas de tipos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E2E2E"/>
                          </a:solidFill>
                          <a:latin typeface="Calibri"/>
                        </a:rPr>
                        <a:t>Type-checker que valida las reglas antes de aplicarlas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05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E2E2E"/>
                          </a:solidFill>
                          <a:latin typeface="Calibri"/>
                        </a:rPr>
                        <a:t>Diseño de compiladores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E2E2E"/>
                          </a:solidFill>
                          <a:latin typeface="Calibri"/>
                        </a:rPr>
                        <a:t>Pipeline lexer → parser → AST → intérprete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05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E2E2E"/>
                          </a:solidFill>
                          <a:latin typeface="Calibri"/>
                        </a:rPr>
                        <a:t>Seguridad / Blockchain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E2E2E"/>
                          </a:solidFill>
                          <a:latin typeface="Calibri"/>
                        </a:rPr>
                        <a:t>Hash de cada decisión + smart contract en testnet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05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E2E2E"/>
                          </a:solidFill>
                          <a:latin typeface="Calibri"/>
                        </a:rPr>
                        <a:t>Inteligencia Artificial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E2E2E"/>
                          </a:solidFill>
                          <a:latin typeface="Calibri"/>
                        </a:rPr>
                        <a:t>Scoring de vulnerabilidad con scikit-learn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146304" cy="566928"/>
          </a:xfrm>
          <a:prstGeom prst="rect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>
                <a:solidFill>
                  <a:srgbClr val="0F3D5C"/>
                </a:solidFill>
                <a:latin typeface="Calibri"/>
              </a:rPr>
              <a:t>Innovación y diferencial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9844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6B6B6B"/>
                </a:solidFill>
                <a:latin typeface="Calibri"/>
              </a:rPr>
              <a:t>Por qué VeriBeca es distinto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000" b="0">
                <a:solidFill>
                  <a:srgbClr val="C9D6DE"/>
                </a:solidFill>
                <a:latin typeface="Calibri"/>
              </a:rPr>
              <a:t>VeriBeca · Asignación transparente de becas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1000"/>
              </a:spcAft>
            </a:pPr>
            <a:r>
              <a:rPr sz="1100" b="1">
                <a:solidFill>
                  <a:srgbClr val="6B6B6B"/>
                </a:solidFill>
                <a:latin typeface="Calibri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103120"/>
            <a:ext cx="3383280" cy="3383280"/>
          </a:xfrm>
          <a:prstGeom prst="roundRect">
            <a:avLst/>
          </a:prstGeom>
          <a:solidFill>
            <a:srgbClr val="F3F6F9"/>
          </a:solidFill>
          <a:ln w="19050">
            <a:solidFill>
              <a:srgbClr val="14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914400" y="2103120"/>
            <a:ext cx="3383280" cy="109728"/>
          </a:xfrm>
          <a:prstGeom prst="rect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88720" y="2514600"/>
            <a:ext cx="28346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0F3D5C"/>
                </a:solidFill>
                <a:latin typeface="Calibri"/>
              </a:rPr>
              <a:t>Auditabilidad real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E2E2E"/>
                </a:solidFill>
                <a:latin typeface="Calibri"/>
              </a:rPr>
              <a:t>No es 'blockchain de moda': el hash on-chain resuelve algo concreto — que una decisión no se pueda alterar y cualquiera la verifique.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44568" y="2103120"/>
            <a:ext cx="3383280" cy="3383280"/>
          </a:xfrm>
          <a:prstGeom prst="roundRect">
            <a:avLst/>
          </a:prstGeom>
          <a:solidFill>
            <a:srgbClr val="F3F6F9"/>
          </a:solidFill>
          <a:ln w="19050">
            <a:solidFill>
              <a:srgbClr val="14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44568" y="2103120"/>
            <a:ext cx="3383280" cy="109728"/>
          </a:xfrm>
          <a:prstGeom prst="rect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818888" y="2514600"/>
            <a:ext cx="28346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0F3D5C"/>
                </a:solidFill>
                <a:latin typeface="Calibri"/>
              </a:rPr>
              <a:t>Reglas tipadas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E2E2E"/>
                </a:solidFill>
                <a:latin typeface="Calibri"/>
              </a:rPr>
              <a:t>El type-checker detecta reglas mal escritas antes de aplicarlas, evitando errores que perjudiquen a personas reales.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74736" y="2103120"/>
            <a:ext cx="3383280" cy="3383280"/>
          </a:xfrm>
          <a:prstGeom prst="roundRect">
            <a:avLst/>
          </a:prstGeom>
          <a:solidFill>
            <a:srgbClr val="F3F6F9"/>
          </a:solidFill>
          <a:ln w="19050">
            <a:solidFill>
              <a:srgbClr val="14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74736" y="2103120"/>
            <a:ext cx="3383280" cy="109728"/>
          </a:xfrm>
          <a:prstGeom prst="rect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49056" y="2514600"/>
            <a:ext cx="28346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0F3D5C"/>
                </a:solidFill>
                <a:latin typeface="Calibri"/>
              </a:rPr>
              <a:t>Difícil de copiar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E2E2E"/>
                </a:solidFill>
                <a:latin typeface="Calibri"/>
              </a:rPr>
              <a:t>Combina lenguajes, compiladores, blockchain e IA en un único flujo integrado.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146304" cy="566928"/>
          </a:xfrm>
          <a:prstGeom prst="rect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>
                <a:solidFill>
                  <a:srgbClr val="0F3D5C"/>
                </a:solidFill>
                <a:latin typeface="Calibri"/>
              </a:rPr>
              <a:t>Impacto y métricas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9844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6B6B6B"/>
                </a:solidFill>
                <a:latin typeface="Calibri"/>
              </a:rPr>
              <a:t>Qué cambio concreto genera y cómo se mide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000" b="0">
                <a:solidFill>
                  <a:srgbClr val="C9D6DE"/>
                </a:solidFill>
                <a:latin typeface="Calibri"/>
              </a:rPr>
              <a:t>VeriBeca · Asignación transparente de becas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1000"/>
              </a:spcAft>
            </a:pPr>
            <a:r>
              <a:rPr sz="1100" b="1">
                <a:solidFill>
                  <a:srgbClr val="6B6B6B"/>
                </a:solidFill>
                <a:latin typeface="Calibri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011680"/>
            <a:ext cx="2606040" cy="1828800"/>
          </a:xfrm>
          <a:prstGeom prst="roundRect">
            <a:avLst/>
          </a:prstGeom>
          <a:solidFill>
            <a:srgbClr val="0F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260604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−80%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C9D6DE"/>
                </a:solidFill>
                <a:latin typeface="Calibri"/>
              </a:rPr>
              <a:t>tiempo de evaluación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C9D6DE"/>
                </a:solidFill>
                <a:latin typeface="Calibri"/>
              </a:rPr>
              <a:t>vs. proceso manual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176" y="2011680"/>
            <a:ext cx="2606040" cy="1828800"/>
          </a:xfrm>
          <a:prstGeom prst="roundRect">
            <a:avLst/>
          </a:prstGeom>
          <a:solidFill>
            <a:srgbClr val="0F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94176" y="2148840"/>
            <a:ext cx="260604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100%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C9D6DE"/>
                </a:solidFill>
                <a:latin typeface="Calibri"/>
              </a:rPr>
              <a:t>decisiones con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C9D6DE"/>
                </a:solidFill>
                <a:latin typeface="Calibri"/>
              </a:rPr>
              <a:t>certificado verificable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73952" y="2011680"/>
            <a:ext cx="2606040" cy="1828800"/>
          </a:xfrm>
          <a:prstGeom prst="roundRect">
            <a:avLst/>
          </a:prstGeom>
          <a:solidFill>
            <a:srgbClr val="0F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73952" y="2148840"/>
            <a:ext cx="260604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27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C9D6DE"/>
                </a:solidFill>
                <a:latin typeface="Calibri"/>
              </a:rPr>
              <a:t>pruebas automáticas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C9D6DE"/>
                </a:solidFill>
                <a:latin typeface="Calibri"/>
              </a:rPr>
              <a:t>en verde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53728" y="2011680"/>
            <a:ext cx="2606040" cy="1828800"/>
          </a:xfrm>
          <a:prstGeom prst="roundRect">
            <a:avLst/>
          </a:prstGeom>
          <a:solidFill>
            <a:srgbClr val="0F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253728" y="2148840"/>
            <a:ext cx="260604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1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C9D6DE"/>
                </a:solidFill>
                <a:latin typeface="Calibri"/>
              </a:rPr>
              <a:t>transacción real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C9D6DE"/>
                </a:solidFill>
                <a:latin typeface="Calibri"/>
              </a:rPr>
              <a:t>en testnet (Sepolia)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29768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>
                <a:solidFill>
                  <a:srgbClr val="149E8F"/>
                </a:solidFill>
                <a:latin typeface="Calibri"/>
              </a:rPr>
              <a:t>●  </a:t>
            </a:r>
            <a:r>
              <a:rPr sz="1600" b="0">
                <a:solidFill>
                  <a:srgbClr val="2E2E2E"/>
                </a:solidFill>
                <a:latin typeface="Calibri"/>
              </a:rPr>
              <a:t>Beneficiarios: postulantes (decisiones justas) e instituciones (procesos defendibles).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149E8F"/>
                </a:solidFill>
                <a:latin typeface="Calibri"/>
              </a:rPr>
              <a:t>●  </a:t>
            </a:r>
            <a:r>
              <a:rPr sz="1600" b="0">
                <a:solidFill>
                  <a:srgbClr val="2E2E2E"/>
                </a:solidFill>
                <a:latin typeface="Calibri"/>
              </a:rPr>
              <a:t>Impacto social: más confianza y menos discrecionalidad en la asignación de ayudas.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149E8F"/>
                </a:solidFill>
                <a:latin typeface="Calibri"/>
              </a:rPr>
              <a:t>●  </a:t>
            </a:r>
            <a:r>
              <a:rPr sz="1600" b="0">
                <a:solidFill>
                  <a:srgbClr val="2E2E2E"/>
                </a:solidFill>
                <a:latin typeface="Calibri"/>
              </a:rPr>
              <a:t>Impacto ambiental: testnet PoS de bajo consumo energético (Ethereum Sepolia).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146304" cy="566928"/>
          </a:xfrm>
          <a:prstGeom prst="rect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>
                <a:solidFill>
                  <a:srgbClr val="0F3D5C"/>
                </a:solidFill>
                <a:latin typeface="Calibri"/>
              </a:rPr>
              <a:t>Viabilidad, sostenibilidad y equipo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9844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6B6B6B"/>
                </a:solidFill>
                <a:latin typeface="Calibri"/>
              </a:rPr>
              <a:t>Cómo se sostiene y cómo trabajamos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000" b="0">
                <a:solidFill>
                  <a:srgbClr val="C9D6DE"/>
                </a:solidFill>
                <a:latin typeface="Calibri"/>
              </a:rPr>
              <a:t>VeriBeca · Asignación transparente de becas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1000"/>
              </a:spcAft>
            </a:pPr>
            <a:r>
              <a:rPr sz="1100" b="1">
                <a:solidFill>
                  <a:srgbClr val="6B6B6B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65960"/>
            <a:ext cx="612648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E6F64"/>
                </a:solidFill>
                <a:latin typeface="Calibri"/>
              </a:rPr>
              <a:t>Viabilidad</a:t>
            </a:r>
          </a:p>
          <a:p>
            <a:pPr algn="l">
              <a:spcAft>
                <a:spcPts val="1000"/>
              </a:spcAft>
            </a:pPr>
            <a:r>
              <a:rPr sz="1300" b="1">
                <a:solidFill>
                  <a:srgbClr val="149E8F"/>
                </a:solidFill>
                <a:latin typeface="Calibri"/>
              </a:rPr>
              <a:t>●  </a:t>
            </a:r>
            <a:r>
              <a:rPr sz="1500" b="0">
                <a:solidFill>
                  <a:srgbClr val="2E2E2E"/>
                </a:solidFill>
                <a:latin typeface="Calibri"/>
              </a:rPr>
              <a:t>Técnica: MVP funcionando end-to-end, con tests y tx real en testnet.</a:t>
            </a:r>
          </a:p>
          <a:p>
            <a:pPr algn="l">
              <a:spcAft>
                <a:spcPts val="1000"/>
              </a:spcAft>
            </a:pPr>
            <a:r>
              <a:rPr sz="1300" b="1">
                <a:solidFill>
                  <a:srgbClr val="149E8F"/>
                </a:solidFill>
                <a:latin typeface="Calibri"/>
              </a:rPr>
              <a:t>●  </a:t>
            </a:r>
            <a:r>
              <a:rPr sz="1500" b="0">
                <a:solidFill>
                  <a:srgbClr val="2E2E2E"/>
                </a:solidFill>
                <a:latin typeface="Calibri"/>
              </a:rPr>
              <a:t>Económica: modelo SaaS por institución; costos bajos.</a:t>
            </a:r>
          </a:p>
          <a:p>
            <a:pPr algn="l">
              <a:spcAft>
                <a:spcPts val="1000"/>
              </a:spcAft>
            </a:pPr>
            <a:r>
              <a:rPr sz="1300" b="1">
                <a:solidFill>
                  <a:srgbClr val="149E8F"/>
                </a:solidFill>
                <a:latin typeface="Calibri"/>
              </a:rPr>
              <a:t>●  </a:t>
            </a:r>
            <a:r>
              <a:rPr sz="1500" b="0">
                <a:solidFill>
                  <a:srgbClr val="2E2E2E"/>
                </a:solidFill>
                <a:latin typeface="Calibri"/>
              </a:rPr>
              <a:t>Operativa: la institución solo escribe reglas y carga postulantes.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0E6F64"/>
                </a:solidFill>
                <a:latin typeface="Calibri"/>
              </a:rPr>
              <a:t>Sostenibilidad</a:t>
            </a:r>
          </a:p>
          <a:p>
            <a:pPr algn="l">
              <a:spcAft>
                <a:spcPts val="1000"/>
              </a:spcAft>
            </a:pPr>
            <a:r>
              <a:rPr sz="1300" b="1">
                <a:solidFill>
                  <a:srgbClr val="149E8F"/>
                </a:solidFill>
                <a:latin typeface="Calibri"/>
              </a:rPr>
              <a:t>●  </a:t>
            </a:r>
            <a:r>
              <a:rPr sz="1500" b="0">
                <a:solidFill>
                  <a:srgbClr val="2E2E2E"/>
                </a:solidFill>
                <a:latin typeface="Calibri"/>
              </a:rPr>
              <a:t>Suscripción + servicios de implementación.</a:t>
            </a:r>
          </a:p>
          <a:p>
            <a:pPr algn="l">
              <a:spcAft>
                <a:spcPts val="1000"/>
              </a:spcAft>
            </a:pPr>
            <a:r>
              <a:rPr sz="1300" b="1">
                <a:solidFill>
                  <a:srgbClr val="149E8F"/>
                </a:solidFill>
                <a:latin typeface="Calibri"/>
              </a:rPr>
              <a:t>●  </a:t>
            </a:r>
            <a:r>
              <a:rPr sz="1500" b="0">
                <a:solidFill>
                  <a:srgbClr val="2E2E2E"/>
                </a:solidFill>
                <a:latin typeface="Calibri"/>
              </a:rPr>
              <a:t>Aliados: bienestar universitario, municipios, ONGs, fundaciones.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1965960"/>
            <a:ext cx="4023360" cy="4114800"/>
          </a:xfrm>
          <a:prstGeom prst="roundRect">
            <a:avLst/>
          </a:prstGeom>
          <a:solidFill>
            <a:srgbClr val="F3F6F9"/>
          </a:solidFill>
          <a:ln w="19050">
            <a:solidFill>
              <a:srgbClr val="165A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0" y="2240280"/>
            <a:ext cx="352044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0F3D5C"/>
                </a:solidFill>
                <a:latin typeface="Calibri"/>
              </a:rPr>
              <a:t>Equipo (3 integrantes)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149E8F"/>
                </a:solidFill>
                <a:latin typeface="Calibri"/>
              </a:rPr>
              <a:t>▸ </a:t>
            </a:r>
            <a:r>
              <a:rPr sz="1400" b="0">
                <a:solidFill>
                  <a:srgbClr val="2E2E2E"/>
                </a:solidFill>
                <a:latin typeface="Calibri"/>
              </a:rPr>
              <a:t>Lenguajes, compiladores y tipos (DSL)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149E8F"/>
                </a:solidFill>
                <a:latin typeface="Calibri"/>
              </a:rPr>
              <a:t>▸ </a:t>
            </a:r>
            <a:r>
              <a:rPr sz="1400" b="0">
                <a:solidFill>
                  <a:srgbClr val="2E2E2E"/>
                </a:solidFill>
                <a:latin typeface="Calibri"/>
              </a:rPr>
              <a:t>IA y backend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149E8F"/>
                </a:solidFill>
                <a:latin typeface="Calibri"/>
              </a:rPr>
              <a:t>▸ </a:t>
            </a:r>
            <a:r>
              <a:rPr sz="1400" b="0">
                <a:solidFill>
                  <a:srgbClr val="2E2E2E"/>
                </a:solidFill>
                <a:latin typeface="Calibri"/>
              </a:rPr>
              <a:t>Blockchain, frontend y documentación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B6B6B"/>
                </a:solidFill>
                <a:latin typeface="Calibri"/>
              </a:rPr>
              <a:t>Metodología ágil: backlog por épicas, módulos en paralelo, commits frecuentes.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9E8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F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800" b="1">
                <a:solidFill>
                  <a:srgbClr val="FFFFFF"/>
                </a:solidFill>
                <a:latin typeface="Calibri"/>
              </a:rPr>
              <a:t>De "confíen en nosotros"</a:t>
            </a:r>
          </a:p>
          <a:p>
            <a:pPr algn="ctr">
              <a:spcAft>
                <a:spcPts val="1000"/>
              </a:spcAft>
            </a:pPr>
            <a:r>
              <a:rPr sz="3800" b="1">
                <a:solidFill>
                  <a:srgbClr val="FFFFFF"/>
                </a:solidFill>
                <a:latin typeface="Calibri"/>
              </a:rPr>
              <a:t>a "verifíquenlo ustedes mismos".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0"/>
              </a:spcAft>
            </a:pPr>
            <a:r>
              <a:rPr sz="2000" b="0">
                <a:solidFill>
                  <a:srgbClr val="E7FBF8"/>
                </a:solidFill>
                <a:latin typeface="Calibri"/>
              </a:rPr>
              <a:t>VeriBeca · Becas justas, consistentes y auditables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52160"/>
            <a:ext cx="10332720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0"/>
              </a:spcAft>
            </a:pPr>
            <a:r>
              <a:rPr sz="1500" b="1" dirty="0">
                <a:solidFill>
                  <a:srgbClr val="E7FBF8"/>
                </a:solidFill>
                <a:latin typeface="Calibri"/>
              </a:rPr>
              <a:t>¡Gracias!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759</Words>
  <Application>Microsoft Office PowerPoint</Application>
  <PresentationFormat>Panorámica</PresentationFormat>
  <Paragraphs>120</Paragraphs>
  <Slides>10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subject/>
  <dc:creator/>
  <cp:keywords/>
  <dc:description>generated using python-pptx</dc:description>
  <cp:lastModifiedBy>Santiago Vicente</cp:lastModifiedBy>
  <cp:revision>2</cp:revision>
  <dcterms:created xsi:type="dcterms:W3CDTF">2013-01-27T09:14:16Z</dcterms:created>
  <dcterms:modified xsi:type="dcterms:W3CDTF">2026-06-17T19:50:53Z</dcterms:modified>
  <cp:category/>
</cp:coreProperties>
</file>